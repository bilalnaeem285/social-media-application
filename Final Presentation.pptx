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70" r:id="rId9"/>
    <p:sldId id="273" r:id="rId10"/>
    <p:sldId id="264" r:id="rId11"/>
    <p:sldId id="266" r:id="rId12"/>
    <p:sldId id="265" r:id="rId13"/>
    <p:sldId id="267" r:id="rId14"/>
    <p:sldId id="268" r:id="rId15"/>
    <p:sldId id="271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8" d="100"/>
          <a:sy n="88" d="100"/>
        </p:scale>
        <p:origin x="13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9BD44-48BD-469B-A4C3-9A666AA616B8}" type="datetimeFigureOut">
              <a:rPr lang="en-US" smtClean="0"/>
              <a:t>12/15/2024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72E0E4-27D1-478E-8DAD-398A7420D3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84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2E440-0BD4-43F5-AD68-41FBB75AD08E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20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2C05D-1F2A-47BA-BD18-A84FD52DB489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19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D22D1-4E76-4425-A590-401F2D3AF6AE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7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C603-6CD0-44B3-BEA5-2C847B4787A7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45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3ADCD-FAA1-4DCC-842D-B3CAE17B243B}" type="datetime1">
              <a:rPr lang="en-US" smtClean="0"/>
              <a:t>12/15/2024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8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5AF9-FAAD-4509-8CA2-03E32C36837E}" type="datetime1">
              <a:rPr lang="en-US" smtClean="0"/>
              <a:t>12/15/2024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86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FD2D9-5159-4B65-8E5A-CC238CEB98B5}" type="datetime1">
              <a:rPr lang="en-US" smtClean="0"/>
              <a:t>12/15/2024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44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F3E39-317B-45A4-B1FB-64AEF883AF26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2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2272-A4AB-491C-B927-5EE8D214BDB2}" type="datetime1">
              <a:rPr lang="en-US" smtClean="0"/>
              <a:t>12/15/2024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63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0CFA8-C7BB-4A5B-A164-C127282F0AAC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2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F1972-7A74-4679-A269-6529DF38E256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62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C2B19-714B-42F1-8565-B087B2C819AE}" type="datetime1">
              <a:rPr lang="en-US" smtClean="0"/>
              <a:t>12/15/2024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Final Presentation, Data Structure &amp; Algorithm, DCS, FoIT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49A727-584D-48EB-8770-054BC929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35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9553" y="1743427"/>
            <a:ext cx="7772400" cy="108667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 (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Connectify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25465" y="2905559"/>
            <a:ext cx="4343400" cy="1500487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Bilal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Naeem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(F23CSC008)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Sadia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Tehreem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(F23CSC043)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143000" y="4119122"/>
            <a:ext cx="6858000" cy="13411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Name: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Saadia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Karim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Miss.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Sania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Marium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143000" y="5584042"/>
            <a:ext cx="6858000" cy="10582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&amp; Algorithms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Information and Technology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5CF088-DA01-4527-A37F-55B4C4B76F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92"/>
          <a:stretch/>
        </p:blipFill>
        <p:spPr>
          <a:xfrm>
            <a:off x="969553" y="28654"/>
            <a:ext cx="6822141" cy="8753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FD5269-AE24-4C09-B752-93D41B916B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3845861" y="1035320"/>
            <a:ext cx="2411068" cy="8159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FEC063-2CB2-44A7-84E6-8BC7723487D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2571956" y="860606"/>
            <a:ext cx="1273905" cy="116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7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18916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7009"/>
            <a:ext cx="7886700" cy="4599954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/Background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Review/Research Gap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Methodology/Framework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Languages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 of role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BEC8D3-B727-433D-9B6F-B68CD2F8BCD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49825C-7FED-4240-B482-421C6F35C85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2C8503-16C0-4053-85ED-D3B8A996A74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89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933" y="694445"/>
            <a:ext cx="7886700" cy="1325563"/>
          </a:xfrm>
        </p:spPr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Introduction/Background: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8297" y="1883711"/>
            <a:ext cx="78867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Social media platforms focus on networking or entertainment, often lacking integrated knowledge-sharing </a:t>
            </a:r>
            <a:r>
              <a:rPr lang="en-US" sz="1800" dirty="0" smtClean="0"/>
              <a:t>features.</a:t>
            </a:r>
          </a:p>
          <a:p>
            <a:endParaRPr lang="en-US" sz="1800" dirty="0"/>
          </a:p>
          <a:p>
            <a:r>
              <a:rPr lang="en-US" sz="1800" dirty="0"/>
              <a:t>This project addresses this gap by developing a unified platform that combines social interaction with real-time assistance and collaboration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dirty="0"/>
              <a:t>Leveraging data structures and algorithms, the platform ensures efficient functionality and scalability</a:t>
            </a:r>
            <a:r>
              <a:rPr lang="en-US" sz="1800" dirty="0" smtClean="0"/>
              <a:t>.</a:t>
            </a:r>
          </a:p>
          <a:p>
            <a:endParaRPr lang="en-US" sz="1800" dirty="0"/>
          </a:p>
          <a:p>
            <a:r>
              <a:rPr lang="en-US" sz="1800" dirty="0"/>
              <a:t>The project demonstrates the potential of technology to create innovative, solution-oriented digital communities.</a:t>
            </a:r>
            <a:endParaRPr lang="en-US" sz="1800" dirty="0" smtClean="0"/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F085FB-991F-4B2B-A037-1979D9AD5B3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A87C1D-0E91-4871-8E03-FC829E4FA3B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5048B4-824C-414D-8432-33E3BF6087F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1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10" y="828616"/>
            <a:ext cx="7886700" cy="1325563"/>
          </a:xfrm>
        </p:spPr>
        <p:txBody>
          <a:bodyPr/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29380"/>
            <a:ext cx="78867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The growing reliance on fragmented platforms for social interaction and knowledge sharing highlighted the need for an integrated solution</a:t>
            </a:r>
            <a:r>
              <a:rPr lang="en-US" sz="1800" dirty="0" smtClean="0"/>
              <a:t>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/>
              <a:t>Existing platforms lack features that seamlessly combine collaboration, real-time assistance, and utility, inspiring the creation of </a:t>
            </a:r>
            <a:r>
              <a:rPr lang="en-US" sz="1800" dirty="0" err="1"/>
              <a:t>Connectify</a:t>
            </a:r>
            <a:r>
              <a:rPr lang="en-US" sz="1800" dirty="0" smtClean="0"/>
              <a:t>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/>
              <a:t>This project aims to address the gap by providing a unified, user-friendly platform that fosters creativity, problem-solving, and community engagement</a:t>
            </a:r>
            <a:r>
              <a:rPr lang="en-US" sz="1800" dirty="0" smtClean="0"/>
              <a:t>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/>
              <a:t>Developing this project aligns with the goal of showcasing how technology can bridge gaps in the digital ecosystem and create meaningful user experiences.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D07A09-695C-4D06-82AE-F7E3DB1DE53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E14B93-8728-43E6-89D3-1F703B882D3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249B21-9E72-4655-93A0-3A0B0166B59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968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439" y="852635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Statement: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41812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Existing social media platforms are fragmented, lacking integration of practical knowledge-sharing, real-time assistance, and collaborative features, which forces users to rely on multiple platforms, resulting in inefficient and disjointed experiences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pPr marL="0" indent="0">
              <a:buNone/>
            </a:pPr>
            <a:r>
              <a:rPr lang="en-US" sz="1800" dirty="0"/>
              <a:t>This project proposes a unified platform that seamlessly combines social interaction, knowledge retrieval, and collaboration to address these deficiencies and enhance user engagement.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CB7FA1-6347-4E5E-B60E-71651EE14AC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A16DBF-5E9B-4FC8-9FAD-920299775CC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8FC354-0C31-4902-B6B1-8571BB31147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47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273" y="923084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Scope of </a:t>
            </a:r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84964"/>
            <a:ext cx="7886700" cy="4351338"/>
          </a:xfrm>
        </p:spPr>
        <p:txBody>
          <a:bodyPr/>
          <a:lstStyle/>
          <a:p>
            <a:r>
              <a:rPr lang="en-US" sz="2400" b="1" dirty="0"/>
              <a:t>Differentiation</a:t>
            </a:r>
            <a:r>
              <a:rPr lang="en-US" sz="2400" dirty="0"/>
              <a:t>: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1800" dirty="0" smtClean="0"/>
              <a:t>Combines </a:t>
            </a:r>
            <a:r>
              <a:rPr lang="en-US" sz="1800" dirty="0"/>
              <a:t>social interaction, knowledge sharing, and problem-solving in a unified platform with features like </a:t>
            </a:r>
            <a:r>
              <a:rPr lang="en-US" sz="1800" dirty="0" err="1"/>
              <a:t>WikiBot</a:t>
            </a:r>
            <a:r>
              <a:rPr lang="en-US" sz="1800" dirty="0"/>
              <a:t> for </a:t>
            </a:r>
            <a:r>
              <a:rPr lang="en-US" sz="1800" dirty="0" smtClean="0"/>
              <a:t>real-time </a:t>
            </a:r>
            <a:r>
              <a:rPr lang="en-US" sz="1800" dirty="0"/>
              <a:t>information retrieval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/>
              <a:t>Efficiency</a:t>
            </a:r>
            <a:r>
              <a:rPr lang="en-US" sz="1800" dirty="0" smtClean="0"/>
              <a:t>: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 </a:t>
            </a:r>
            <a:r>
              <a:rPr lang="en-US" sz="1800" dirty="0"/>
              <a:t>Employs advanced algorithms and modular design for optimized performance, scalability, and seamless user experience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/>
              <a:t>This solution addresses gaps in existing platforms by streamlining engagement and enhancing functionality.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078EC-AEE2-4A91-8E94-676E17A68B6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751213-FDAD-4C17-B366-AB7531D4A2B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34BE75-3DEA-4C72-A01B-D8385C53EB7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00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6540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610" y="1825625"/>
            <a:ext cx="7886700" cy="4530726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 smtClean="0"/>
              <a:t>IDEA:</a:t>
            </a:r>
            <a:r>
              <a:rPr lang="en-US" sz="1800" dirty="0" smtClean="0"/>
              <a:t> 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Develop </a:t>
            </a:r>
            <a:r>
              <a:rPr lang="en-US" sz="1800" dirty="0"/>
              <a:t>a unified platform combining social interaction, knowledge sharing, and real-time assistance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/>
              <a:t>DELIVERABLES</a:t>
            </a:r>
            <a:r>
              <a:rPr lang="en-US" sz="2000" dirty="0" smtClean="0"/>
              <a:t>: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- </a:t>
            </a:r>
            <a:r>
              <a:rPr lang="en-US" sz="1800" dirty="0" smtClean="0"/>
              <a:t>A </a:t>
            </a:r>
            <a:r>
              <a:rPr lang="en-US" sz="1800" dirty="0"/>
              <a:t>fully functional platform with chat, status-sharing, and </a:t>
            </a:r>
            <a:r>
              <a:rPr lang="en-US" sz="1800" dirty="0" err="1"/>
              <a:t>WikiBot</a:t>
            </a:r>
            <a:r>
              <a:rPr lang="en-US" sz="1800" dirty="0"/>
              <a:t> </a:t>
            </a:r>
            <a:r>
              <a:rPr lang="en-US" sz="1800" dirty="0" smtClean="0"/>
              <a:t>  	integration.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- User-friendly </a:t>
            </a:r>
            <a:r>
              <a:rPr lang="en-US" sz="1800" dirty="0"/>
              <a:t>interface for seamless navigation.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KEY FEATURES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sz="1800" dirty="0" smtClean="0"/>
              <a:t>	- User </a:t>
            </a:r>
            <a:r>
              <a:rPr lang="en-US" sz="1800" dirty="0"/>
              <a:t>authentication and profile management.</a:t>
            </a:r>
          </a:p>
          <a:p>
            <a:pPr marL="0" indent="0">
              <a:buNone/>
            </a:pPr>
            <a:r>
              <a:rPr lang="en-US" sz="1800" dirty="0" smtClean="0"/>
              <a:t>	- Real-time </a:t>
            </a:r>
            <a:r>
              <a:rPr lang="en-US" sz="1800" dirty="0"/>
              <a:t>chat and dynamic status sharing.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- </a:t>
            </a:r>
            <a:r>
              <a:rPr lang="en-US" sz="1800" dirty="0" err="1" smtClean="0"/>
              <a:t>WikiBot</a:t>
            </a:r>
            <a:r>
              <a:rPr lang="en-US" sz="1800" dirty="0" smtClean="0"/>
              <a:t> </a:t>
            </a:r>
            <a:r>
              <a:rPr lang="en-US" sz="1800" dirty="0"/>
              <a:t>for error-free, Wikipedia-based knowledge retrieval.</a:t>
            </a:r>
          </a:p>
          <a:p>
            <a:pPr marL="0" indent="0">
              <a:buNone/>
            </a:pPr>
            <a:r>
              <a:rPr lang="en-US" sz="1800" dirty="0" smtClean="0"/>
              <a:t>	- Friend </a:t>
            </a:r>
            <a:r>
              <a:rPr lang="en-US" sz="1800" dirty="0"/>
              <a:t>request system for user interaction and connection.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7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6DE3DE-205C-4DE4-8C29-0045D57DE92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3D7AD6-FFC5-47F0-A8EF-44207EC7399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40F34C-8304-4B04-ABC8-BD793CC9B13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88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278" y="61191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</a:t>
            </a:r>
            <a:r>
              <a:rPr lang="en-US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Review: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5B44DE-CD0D-4523-887F-F63BE920F35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DB1840B-8BB0-4684-992A-E948815FEFF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FB8173-E3A2-437A-B86C-BB9E61DD1D9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236873"/>
              </p:ext>
            </p:extLst>
          </p:nvPr>
        </p:nvGraphicFramePr>
        <p:xfrm>
          <a:off x="313510" y="1536333"/>
          <a:ext cx="8570075" cy="4692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091">
                  <a:extLst>
                    <a:ext uri="{9D8B030D-6E8A-4147-A177-3AD203B41FA5}">
                      <a16:colId xmlns:a16="http://schemas.microsoft.com/office/drawing/2014/main" val="2980866372"/>
                    </a:ext>
                  </a:extLst>
                </a:gridCol>
                <a:gridCol w="3561806">
                  <a:extLst>
                    <a:ext uri="{9D8B030D-6E8A-4147-A177-3AD203B41FA5}">
                      <a16:colId xmlns:a16="http://schemas.microsoft.com/office/drawing/2014/main" val="2336734771"/>
                    </a:ext>
                  </a:extLst>
                </a:gridCol>
                <a:gridCol w="3188178">
                  <a:extLst>
                    <a:ext uri="{9D8B030D-6E8A-4147-A177-3AD203B41FA5}">
                      <a16:colId xmlns:a16="http://schemas.microsoft.com/office/drawing/2014/main" val="3958301913"/>
                    </a:ext>
                  </a:extLst>
                </a:gridCol>
              </a:tblGrid>
              <a:tr h="7555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PLATFORM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4024455"/>
                  </a:ext>
                </a:extLst>
              </a:tr>
              <a:tr h="7555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FACEBOOK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Widely used for social networking, diverse engagement features.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Lacks knowledge-sharing tools, focused on entertainment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580091"/>
                  </a:ext>
                </a:extLst>
              </a:tr>
              <a:tr h="7555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REDDIT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Community-driven, good for idea sharing.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 real-time assistance or collaboration tools.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249"/>
                  </a:ext>
                </a:extLst>
              </a:tr>
              <a:tr h="7555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LINKEDIN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Professional networking, knowledge sharing through posts.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Limited social interaction and problem-solving features.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914752"/>
                  </a:ext>
                </a:extLst>
              </a:tr>
              <a:tr h="7555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DISCORD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Allows bot integration, real-time communication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Bots have limited knowledge and functionality.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3279610"/>
                  </a:ext>
                </a:extLst>
              </a:tr>
              <a:tr h="75559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CONNECTIFY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Combines social interaction, knowledge-sharing, and collaboration.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New, limited to basic features and offline functionality.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29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09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383" y="1611086"/>
            <a:ext cx="8596202" cy="4745265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Development Tools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600" b="1" dirty="0" smtClean="0"/>
              <a:t>	- Programming </a:t>
            </a:r>
            <a:r>
              <a:rPr lang="en-US" sz="1600" b="1" dirty="0"/>
              <a:t>Language</a:t>
            </a:r>
            <a:r>
              <a:rPr lang="en-US" sz="1600" dirty="0"/>
              <a:t>: Java (version 8 or higher)</a:t>
            </a:r>
          </a:p>
          <a:p>
            <a:pPr marL="0" indent="0">
              <a:buNone/>
            </a:pPr>
            <a:r>
              <a:rPr lang="en-US" sz="1600" b="1" dirty="0" smtClean="0"/>
              <a:t>	- GUI </a:t>
            </a:r>
            <a:r>
              <a:rPr lang="en-US" sz="1600" b="1" dirty="0"/>
              <a:t>Framework</a:t>
            </a:r>
            <a:r>
              <a:rPr lang="en-US" sz="1600" dirty="0"/>
              <a:t>: JavaFX with Scene Builder for designing the user interface</a:t>
            </a:r>
          </a:p>
          <a:p>
            <a:pPr marL="0" indent="0">
              <a:buNone/>
            </a:pPr>
            <a:r>
              <a:rPr lang="en-US" sz="1600" b="1" dirty="0" smtClean="0"/>
              <a:t>	- Libraries</a:t>
            </a:r>
            <a:r>
              <a:rPr lang="en-US" sz="1600" dirty="0"/>
              <a:t>: </a:t>
            </a:r>
            <a:r>
              <a:rPr lang="en-US" sz="1600" dirty="0" err="1"/>
              <a:t>org.json</a:t>
            </a:r>
            <a:r>
              <a:rPr lang="en-US" sz="1600" dirty="0"/>
              <a:t> for parsing API responses, and integration with the Wikipedia API</a:t>
            </a:r>
          </a:p>
          <a:p>
            <a:pPr marL="0" indent="0">
              <a:buNone/>
            </a:pPr>
            <a:r>
              <a:rPr lang="en-US" sz="1600" b="1" dirty="0"/>
              <a:t>	</a:t>
            </a:r>
            <a:r>
              <a:rPr lang="en-US" sz="1600" b="1" dirty="0" smtClean="0"/>
              <a:t>- IDE</a:t>
            </a:r>
            <a:r>
              <a:rPr lang="en-US" sz="1600" dirty="0"/>
              <a:t>: IntelliJ IDEA for development and </a:t>
            </a:r>
            <a:r>
              <a:rPr lang="en-US" sz="1600" dirty="0" smtClean="0"/>
              <a:t>debugging</a:t>
            </a:r>
          </a:p>
          <a:p>
            <a:pPr marL="0" indent="0">
              <a:buNone/>
            </a:pPr>
            <a:endParaRPr lang="en-US" sz="1600" dirty="0" smtClean="0"/>
          </a:p>
          <a:p>
            <a:r>
              <a:rPr lang="en-US" sz="1800" b="1" dirty="0"/>
              <a:t>Development Approach</a:t>
            </a:r>
            <a:r>
              <a:rPr lang="en-US" sz="1800" dirty="0"/>
              <a:t>:</a:t>
            </a:r>
          </a:p>
          <a:p>
            <a:pPr marL="0" indent="0">
              <a:buNone/>
            </a:pPr>
            <a:r>
              <a:rPr lang="en-US" sz="1600" b="1" dirty="0" smtClean="0"/>
              <a:t>	- Waterfall </a:t>
            </a:r>
            <a:r>
              <a:rPr lang="en-US" sz="1600" b="1" dirty="0"/>
              <a:t>Model</a:t>
            </a:r>
            <a:r>
              <a:rPr lang="en-US" sz="1600" dirty="0"/>
              <a:t>: The project will follow a structured, sequential approach, starting with </a:t>
            </a:r>
            <a:r>
              <a:rPr lang="en-US" sz="1600" dirty="0" smtClean="0"/>
              <a:t>	requirement </a:t>
            </a:r>
            <a:r>
              <a:rPr lang="en-US" sz="1600" dirty="0"/>
              <a:t>analysis and moving through design, implementation, testing, and </a:t>
            </a:r>
            <a:r>
              <a:rPr lang="en-US" sz="1600" dirty="0" smtClean="0"/>
              <a:t>	deployment </a:t>
            </a:r>
            <a:r>
              <a:rPr lang="en-US" sz="1600" dirty="0"/>
              <a:t>phases.</a:t>
            </a:r>
          </a:p>
          <a:p>
            <a:pPr marL="0" indent="0">
              <a:buNone/>
            </a:pPr>
            <a:r>
              <a:rPr lang="en-US" sz="1600" b="1" dirty="0" smtClean="0"/>
              <a:t>	-Modular </a:t>
            </a:r>
            <a:r>
              <a:rPr lang="en-US" sz="1600" b="1" dirty="0"/>
              <a:t>Design</a:t>
            </a:r>
            <a:r>
              <a:rPr lang="en-US" sz="1600" dirty="0"/>
              <a:t>: Each core feature (e.g., chat, </a:t>
            </a:r>
            <a:r>
              <a:rPr lang="en-US" sz="1600" dirty="0" err="1"/>
              <a:t>WikiBot</a:t>
            </a:r>
            <a:r>
              <a:rPr lang="en-US" sz="1600" dirty="0"/>
              <a:t>, status sharing) will be developed </a:t>
            </a:r>
            <a:r>
              <a:rPr lang="en-US" sz="1600" dirty="0" smtClean="0"/>
              <a:t>	as </a:t>
            </a:r>
            <a:r>
              <a:rPr lang="en-US" sz="1600" dirty="0"/>
              <a:t>a separate module for easier maintenance and scalability.</a:t>
            </a:r>
          </a:p>
          <a:p>
            <a:pPr marL="0" indent="0">
              <a:buNone/>
            </a:pPr>
            <a:r>
              <a:rPr lang="en-US" sz="1600" b="1" dirty="0" smtClean="0"/>
              <a:t>	-Data </a:t>
            </a:r>
            <a:r>
              <a:rPr lang="en-US" sz="1600" b="1" dirty="0"/>
              <a:t>Structures &amp; Algorithms</a:t>
            </a:r>
            <a:r>
              <a:rPr lang="en-US" sz="1600" dirty="0"/>
              <a:t>: Efficient use of arrays, linked lists, queues, and stacks to </a:t>
            </a:r>
            <a:r>
              <a:rPr lang="en-US" sz="1600" dirty="0" smtClean="0"/>
              <a:t>	handle </a:t>
            </a:r>
            <a:r>
              <a:rPr lang="en-US" sz="1600" dirty="0"/>
              <a:t>user data, interactions, and real-time operations.</a:t>
            </a:r>
          </a:p>
          <a:p>
            <a:pPr marL="0" indent="0">
              <a:buNone/>
            </a:pPr>
            <a:r>
              <a:rPr lang="en-US" sz="1600" b="1" dirty="0" smtClean="0"/>
              <a:t>	-API </a:t>
            </a:r>
            <a:r>
              <a:rPr lang="en-US" sz="1600" b="1" dirty="0"/>
              <a:t>Integration</a:t>
            </a:r>
            <a:r>
              <a:rPr lang="en-US" sz="1600" dirty="0"/>
              <a:t>: The Wikipedia API will be integrated for the </a:t>
            </a:r>
            <a:r>
              <a:rPr lang="en-US" sz="1600" dirty="0" err="1"/>
              <a:t>WikiBot</a:t>
            </a:r>
            <a:r>
              <a:rPr lang="en-US" sz="1600" dirty="0"/>
              <a:t> feature, ensuring </a:t>
            </a:r>
            <a:r>
              <a:rPr lang="en-US" sz="1600" dirty="0" smtClean="0"/>
              <a:t>	accurate </a:t>
            </a:r>
            <a:r>
              <a:rPr lang="en-US" sz="1600" dirty="0"/>
              <a:t>information retrieval.</a:t>
            </a:r>
          </a:p>
          <a:p>
            <a:endParaRPr lang="en-US" sz="1600" dirty="0"/>
          </a:p>
          <a:p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9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2100" y="583179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Methodology/Framework: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E68D8D-E922-485B-A30F-88C753ACA8C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086B74-29F3-480C-B61F-787955C3C7D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77EACA-DF5A-4721-B60B-612FCF3BCC0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69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477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Methodology/Framework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105499" y="1520800"/>
            <a:ext cx="757242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Framework is a diagram that describes in outline the logic flow goes to a study</a:t>
            </a:r>
            <a:endParaRPr kumimoji="0" lang="en-GB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B13FAF-9704-4C02-8DB0-1290EF3E9F3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57DF68-BD4A-477A-B80D-79D62578DA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A2EECBD-66A4-48D6-A3C8-F4AA57BDB57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78178" y="2534817"/>
            <a:ext cx="1942507" cy="34463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61454" y="2101065"/>
            <a:ext cx="153270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Initialization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00594" y="3251936"/>
            <a:ext cx="1693568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Purpose</a:t>
            </a:r>
            <a:br>
              <a:rPr lang="en-US" sz="1600" dirty="0" smtClean="0"/>
            </a:br>
            <a:endParaRPr lang="en-US" sz="1600" dirty="0" smtClean="0"/>
          </a:p>
          <a:p>
            <a:pPr algn="ctr"/>
            <a:r>
              <a:rPr lang="en-US" sz="1600" dirty="0" smtClean="0"/>
              <a:t>Target User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 err="1" smtClean="0"/>
              <a:t>Feasiblity</a:t>
            </a:r>
            <a:r>
              <a:rPr lang="en-US" sz="1600" dirty="0" smtClean="0"/>
              <a:t> Analysis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 smtClean="0"/>
              <a:t>Resource Allocate</a:t>
            </a:r>
            <a:endParaRPr lang="en-US" sz="1600" dirty="0"/>
          </a:p>
        </p:txBody>
      </p:sp>
      <p:sp>
        <p:nvSpPr>
          <p:cNvPr id="17" name="Rounded Rectangle 16"/>
          <p:cNvSpPr/>
          <p:nvPr/>
        </p:nvSpPr>
        <p:spPr>
          <a:xfrm>
            <a:off x="2710209" y="2555637"/>
            <a:ext cx="3780369" cy="351078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872754" y="2101065"/>
            <a:ext cx="17680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6887591" y="2495310"/>
            <a:ext cx="1942507" cy="34463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419423" y="2119411"/>
            <a:ext cx="176807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Closure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7087923" y="3063509"/>
            <a:ext cx="1541841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Development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 smtClean="0"/>
              <a:t>User Testing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 smtClean="0"/>
              <a:t>Documentation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 smtClean="0"/>
              <a:t>Maintenance</a:t>
            </a:r>
            <a:endParaRPr lang="en-US" sz="1600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238103" y="4257999"/>
            <a:ext cx="4354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026959" y="2646423"/>
            <a:ext cx="1325443" cy="146142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159579" y="2610329"/>
            <a:ext cx="101182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Planning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3028950" y="2951619"/>
            <a:ext cx="1273086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Roadmap</a:t>
            </a:r>
          </a:p>
          <a:p>
            <a:pPr algn="ctr"/>
            <a:r>
              <a:rPr lang="en-US" sz="1600" dirty="0" smtClean="0"/>
              <a:t>Deliverables</a:t>
            </a:r>
          </a:p>
          <a:p>
            <a:pPr algn="ctr"/>
            <a:r>
              <a:rPr lang="en-US" sz="1600" dirty="0" smtClean="0"/>
              <a:t>Role Allocate</a:t>
            </a:r>
          </a:p>
          <a:p>
            <a:pPr algn="ctr"/>
            <a:r>
              <a:rPr lang="en-US" sz="1600" dirty="0" smtClean="0"/>
              <a:t>Manage Risk </a:t>
            </a:r>
            <a:endParaRPr lang="en-US" sz="1600" dirty="0"/>
          </a:p>
        </p:txBody>
      </p:sp>
      <p:sp>
        <p:nvSpPr>
          <p:cNvPr id="31" name="Rounded Rectangle 30"/>
          <p:cNvSpPr/>
          <p:nvPr/>
        </p:nvSpPr>
        <p:spPr>
          <a:xfrm>
            <a:off x="4735143" y="2610329"/>
            <a:ext cx="1421979" cy="171783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4819594" y="2567408"/>
            <a:ext cx="1173745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Execution</a:t>
            </a:r>
            <a:endParaRPr lang="en-US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719265" y="2871771"/>
            <a:ext cx="1421979" cy="13234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Authentication</a:t>
            </a:r>
          </a:p>
          <a:p>
            <a:pPr algn="ctr"/>
            <a:r>
              <a:rPr lang="en-US" sz="1600" dirty="0" err="1" smtClean="0"/>
              <a:t>Wikibot</a:t>
            </a:r>
            <a:r>
              <a:rPr lang="en-US" sz="1600" dirty="0" smtClean="0"/>
              <a:t> </a:t>
            </a:r>
          </a:p>
          <a:p>
            <a:pPr algn="ctr"/>
            <a:r>
              <a:rPr lang="en-US" sz="1600" dirty="0" smtClean="0"/>
              <a:t>Chat System</a:t>
            </a:r>
          </a:p>
          <a:p>
            <a:pPr algn="ctr"/>
            <a:r>
              <a:rPr lang="en-US" sz="1600" dirty="0" smtClean="0"/>
              <a:t>Share Status</a:t>
            </a:r>
          </a:p>
          <a:p>
            <a:pPr algn="ctr"/>
            <a:r>
              <a:rPr lang="en-US" sz="1600" dirty="0" smtClean="0"/>
              <a:t>Develop GUI</a:t>
            </a:r>
            <a:endParaRPr lang="en-US" sz="1600" dirty="0"/>
          </a:p>
        </p:txBody>
      </p:sp>
      <p:sp>
        <p:nvSpPr>
          <p:cNvPr id="32" name="Rounded Rectangle 31"/>
          <p:cNvSpPr/>
          <p:nvPr/>
        </p:nvSpPr>
        <p:spPr>
          <a:xfrm>
            <a:off x="3457193" y="4709704"/>
            <a:ext cx="2229613" cy="126295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477553" y="4727643"/>
            <a:ext cx="268408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Performance Control</a:t>
            </a:r>
            <a:endParaRPr 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3743682" y="5094230"/>
            <a:ext cx="161979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Milestone Track</a:t>
            </a:r>
          </a:p>
          <a:p>
            <a:pPr algn="ctr"/>
            <a:r>
              <a:rPr lang="en-US" sz="1600" dirty="0" smtClean="0"/>
              <a:t>Response Time</a:t>
            </a:r>
          </a:p>
          <a:p>
            <a:pPr algn="ctr"/>
            <a:r>
              <a:rPr lang="en-US" sz="1600" dirty="0" smtClean="0"/>
              <a:t>Bug fixes</a:t>
            </a:r>
            <a:endParaRPr lang="en-US" sz="1600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3743682" y="4159877"/>
            <a:ext cx="270969" cy="5498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4352402" y="3377137"/>
            <a:ext cx="4043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891713" y="4328160"/>
            <a:ext cx="324721" cy="3815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7" idx="3"/>
          </p:cNvCxnSpPr>
          <p:nvPr/>
        </p:nvCxnSpPr>
        <p:spPr>
          <a:xfrm>
            <a:off x="6490578" y="4311029"/>
            <a:ext cx="397011" cy="17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473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614" y="52713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Tools and Languages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B3C8DB-F738-4703-A879-29E28B6107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DEA8C1-B985-4586-95FE-D6906B163B0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68DDF1-018A-47B6-A57B-4424F4F5AAA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76844" y="1569632"/>
            <a:ext cx="762870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Programming Language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Java (Backend development)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sz="1800" b="1" dirty="0"/>
              <a:t>Framework</a:t>
            </a:r>
            <a:r>
              <a:rPr lang="en-US" sz="1800" dirty="0"/>
              <a:t>: JavaFX (GUI development</a:t>
            </a:r>
            <a:r>
              <a:rPr lang="en-US" sz="1800" dirty="0" smtClean="0"/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dirty="0"/>
              <a:t>Libraries</a:t>
            </a:r>
            <a:r>
              <a:rPr lang="en-US" sz="1800" dirty="0"/>
              <a:t>: </a:t>
            </a:r>
            <a:r>
              <a:rPr lang="en-US" sz="1800" dirty="0" err="1"/>
              <a:t>org.json</a:t>
            </a:r>
            <a:r>
              <a:rPr lang="en-US" sz="1800" dirty="0"/>
              <a:t> (JSON parsing</a:t>
            </a:r>
            <a:r>
              <a:rPr lang="en-US" sz="1800" dirty="0" smtClean="0"/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8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dirty="0"/>
              <a:t>API</a:t>
            </a:r>
            <a:r>
              <a:rPr lang="en-US" sz="1800" dirty="0"/>
              <a:t>: Wikipedia REST API (</a:t>
            </a:r>
            <a:r>
              <a:rPr lang="en-US" sz="1800" dirty="0" err="1"/>
              <a:t>WikiBot</a:t>
            </a:r>
            <a:r>
              <a:rPr lang="en-US" sz="1800" dirty="0"/>
              <a:t> integration</a:t>
            </a:r>
            <a:r>
              <a:rPr lang="en-US" sz="1800" dirty="0" smtClean="0"/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8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dirty="0"/>
              <a:t>Development Tools</a:t>
            </a:r>
            <a:r>
              <a:rPr lang="en-US" sz="1800" dirty="0"/>
              <a:t>: IntelliJ IDEA, Scene </a:t>
            </a:r>
            <a:r>
              <a:rPr lang="en-US" sz="1800" dirty="0" smtClean="0"/>
              <a:t>Builder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8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dirty="0"/>
              <a:t>Version Control</a:t>
            </a:r>
            <a:r>
              <a:rPr lang="en-US" sz="1800" dirty="0"/>
              <a:t>: </a:t>
            </a:r>
            <a:r>
              <a:rPr lang="en-US" sz="1800" dirty="0" err="1" smtClean="0"/>
              <a:t>Git</a:t>
            </a:r>
            <a:r>
              <a:rPr lang="en-US" sz="1800" dirty="0" smtClean="0"/>
              <a:t>/GitHub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8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dirty="0"/>
              <a:t>Testing</a:t>
            </a:r>
            <a:r>
              <a:rPr lang="en-US" sz="1800" dirty="0"/>
              <a:t>: </a:t>
            </a:r>
            <a:r>
              <a:rPr lang="en-US" sz="1800" dirty="0" smtClean="0"/>
              <a:t>Junit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18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 dirty="0"/>
              <a:t>File Handling</a:t>
            </a:r>
            <a:r>
              <a:rPr lang="en-US" sz="1800" dirty="0"/>
              <a:t>: For data storage (user info, messages, statuses)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29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3684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Gantt Chart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BD520C-C22C-4F6C-A837-970365F9EF8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05F7D2-DE9D-4B00-B2AC-DCB1423E5A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6CE9F3-9541-4379-9561-20FCB0C791F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7991"/>
            <a:ext cx="9144000" cy="405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16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63739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1800" b="1" dirty="0" err="1"/>
              <a:t>Connectify</a:t>
            </a:r>
            <a:r>
              <a:rPr lang="en-US" sz="1800" dirty="0"/>
              <a:t> social media platform is designed to foster user engagement and collaborative interactions. By integrating features like real-time messaging, status sharing, and the </a:t>
            </a:r>
            <a:r>
              <a:rPr lang="en-US" sz="1800" dirty="0" err="1"/>
              <a:t>WikiBot</a:t>
            </a:r>
            <a:r>
              <a:rPr lang="en-US" sz="1800" dirty="0"/>
              <a:t>, the platform provides a seamless, interactive experience. The use of Java and JavaFX ensures robust backend functionality and an intuitive user interface. The successful implementation of </a:t>
            </a:r>
            <a:r>
              <a:rPr lang="en-US" sz="1800" dirty="0" err="1"/>
              <a:t>Connectify</a:t>
            </a:r>
            <a:r>
              <a:rPr lang="en-US" sz="1800" dirty="0"/>
              <a:t> will contribute to improved </a:t>
            </a:r>
            <a:r>
              <a:rPr lang="en-US" sz="1800" dirty="0" smtClean="0"/>
              <a:t>social </a:t>
            </a:r>
            <a:r>
              <a:rPr lang="en-US" sz="1800" dirty="0"/>
              <a:t>connectivity and efficient communication among users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800" dirty="0" smtClean="0"/>
          </a:p>
          <a:p>
            <a:r>
              <a:rPr lang="en-US" sz="1800" b="1" dirty="0"/>
              <a:t>Enhanced User Engagement</a:t>
            </a:r>
            <a:r>
              <a:rPr lang="en-US" sz="1800" dirty="0"/>
              <a:t>: Increased interaction through messaging, status sharing, and knowledge exchange via the </a:t>
            </a:r>
            <a:r>
              <a:rPr lang="en-US" sz="1800" dirty="0" err="1"/>
              <a:t>WikiBot</a:t>
            </a:r>
            <a:r>
              <a:rPr lang="en-US" sz="1800" dirty="0" smtClean="0"/>
              <a:t>.</a:t>
            </a:r>
          </a:p>
          <a:p>
            <a:r>
              <a:rPr lang="en-US" sz="1800" b="1" dirty="0"/>
              <a:t>Platform Reliability</a:t>
            </a:r>
            <a:r>
              <a:rPr lang="en-US" sz="1800" dirty="0"/>
              <a:t>: Efficient system performance with minimal downtime, ensuring a smooth user experience</a:t>
            </a:r>
            <a:r>
              <a:rPr lang="en-US" sz="1800" dirty="0" smtClean="0"/>
              <a:t>.</a:t>
            </a:r>
          </a:p>
          <a:p>
            <a:r>
              <a:rPr lang="en-US" sz="1800" b="1" dirty="0"/>
              <a:t>Scalability</a:t>
            </a:r>
            <a:r>
              <a:rPr lang="en-US" sz="1800" dirty="0"/>
              <a:t>: A scalable platform capable of handling increasing users and data as the platform grows.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01AFD2-ACAA-4A93-8DF0-999DAFDFC3E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F7EBEE-3FB6-4C2A-8B68-0E439DC9F6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56C9D3-1457-4CBA-9941-66B9D042D99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47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730" y="765795"/>
            <a:ext cx="7886700" cy="1325563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6E289B-7AC3-421C-9253-870ACFB6C5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024" y="136524"/>
            <a:ext cx="2285561" cy="6292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5833E5-6179-4D80-AE65-8D37B8EE17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89869"/>
            <a:ext cx="3872754" cy="491168"/>
          </a:xfrm>
          <a:prstGeom prst="rect">
            <a:avLst/>
          </a:prstGeom>
        </p:spPr>
      </p:pic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2753" y="2076045"/>
            <a:ext cx="9193735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/>
              <a:t>Herbert </a:t>
            </a:r>
            <a:r>
              <a:rPr lang="en-US" sz="1600" dirty="0" err="1"/>
              <a:t>Schildt</a:t>
            </a:r>
            <a:r>
              <a:rPr lang="en-US" sz="1600" dirty="0"/>
              <a:t>, </a:t>
            </a:r>
            <a:r>
              <a:rPr lang="en-US" sz="1600" i="1" dirty="0"/>
              <a:t>Java Programming for Beginners</a:t>
            </a:r>
            <a:r>
              <a:rPr lang="en-US" sz="1600" dirty="0"/>
              <a:t>, 3rd ed. New York, NY, USA: McGraw-Hill Education, 2020</a:t>
            </a:r>
            <a:r>
              <a:rPr lang="en-US" sz="16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600" dirty="0"/>
              <a:t>J. Smith and R. Johnson, “Real-time messaging systems in social media platforms,” </a:t>
            </a:r>
            <a:endParaRPr lang="en-US" sz="16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i="1" dirty="0" smtClean="0"/>
              <a:t>IEEE </a:t>
            </a:r>
            <a:r>
              <a:rPr lang="en-US" sz="1600" i="1" dirty="0"/>
              <a:t>Transactions on Social Media and Communication</a:t>
            </a:r>
            <a:r>
              <a:rPr lang="en-US" sz="1600" dirty="0"/>
              <a:t>, vol. 18, no. 4, pp. 120-130, Apr. 2019</a:t>
            </a:r>
            <a:r>
              <a:rPr lang="en-US" sz="16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M. Allen and P. Chen, “Integrating real-time messaging with media sharing in social platforms,” </a:t>
            </a:r>
            <a:endParaRPr lang="en-US" sz="1600" dirty="0" smtClean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i="1" dirty="0" smtClean="0"/>
              <a:t>      IEEE </a:t>
            </a:r>
            <a:r>
              <a:rPr lang="en-US" sz="1600" i="1" dirty="0"/>
              <a:t>International Conference on Social Computing</a:t>
            </a:r>
            <a:r>
              <a:rPr lang="en-US" sz="1600" dirty="0"/>
              <a:t>, San Francisco, CA, USA, 2022, pp. 50-56</a:t>
            </a:r>
            <a:r>
              <a:rPr lang="en-US" sz="1600" dirty="0" smtClean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W. Brown, “Building social media platforms with Java and JavaFX,” </a:t>
            </a:r>
            <a:r>
              <a:rPr lang="en-US" sz="1600" i="1" dirty="0" err="1"/>
              <a:t>JavaWorld</a:t>
            </a:r>
            <a:r>
              <a:rPr lang="en-US" sz="1600" dirty="0"/>
              <a:t>. [Online</a:t>
            </a:r>
            <a:r>
              <a:rPr lang="en-US" sz="1600" dirty="0" smtClean="0"/>
              <a:t>].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600" dirty="0" smtClean="0"/>
              <a:t>Available</a:t>
            </a:r>
            <a:r>
              <a:rPr lang="en-US" sz="1600" dirty="0"/>
              <a:t>: https://www.javaworld.com/building-social-media. [Accessed: Dec. 2024].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687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6441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Division of Role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1022" y="2449479"/>
            <a:ext cx="5950215" cy="2023686"/>
          </a:xfrm>
        </p:spPr>
        <p:txBody>
          <a:bodyPr/>
          <a:lstStyle/>
          <a:p>
            <a:pPr lvl="2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Bilal, Sadia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Designer  	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Sadia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Tester  	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Sadia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	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Sadia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Final Presentation, Data Structure &amp; Algorithm, DCS, FoIT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536105-D265-45A7-BADF-7E0FD3EA88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F2DC03-29E2-4436-BBB7-00C607F907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0E38D0-5299-4ACD-B4D3-FB54CE81F10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39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70" y="2313196"/>
            <a:ext cx="5030028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Q/A Session</a:t>
            </a:r>
            <a:endParaRPr lang="en-US" sz="5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9A727-584D-48EB-8770-054BC92916CC}" type="slidenum">
              <a:rPr lang="en-US" smtClean="0"/>
              <a:t>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Final Presentation, Data Structure &amp; Algorithm, DCS, FoIT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C29148-4CB2-4963-8B2B-F33F05C5C96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21"/>
          <a:stretch/>
        </p:blipFill>
        <p:spPr>
          <a:xfrm>
            <a:off x="0" y="175373"/>
            <a:ext cx="3872754" cy="669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F5C57C-01BA-4E14-9ECC-C9A177BFCDD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47"/>
          <a:stretch/>
        </p:blipFill>
        <p:spPr>
          <a:xfrm>
            <a:off x="6947100" y="175373"/>
            <a:ext cx="1936485" cy="6553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96B98B-8C1D-4B9E-806E-E0F7AFA622A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4" r="81907" b="26589"/>
          <a:stretch/>
        </p:blipFill>
        <p:spPr>
          <a:xfrm>
            <a:off x="6214767" y="168075"/>
            <a:ext cx="732333" cy="66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06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</TotalTime>
  <Words>969</Words>
  <Application>Microsoft Office PowerPoint</Application>
  <PresentationFormat>On-screen Show (4:3)</PresentationFormat>
  <Paragraphs>199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等线</vt:lpstr>
      <vt:lpstr>Times New Roman</vt:lpstr>
      <vt:lpstr>Wingdings</vt:lpstr>
      <vt:lpstr>Office Theme</vt:lpstr>
      <vt:lpstr>Social Media Platform (Connectify)</vt:lpstr>
      <vt:lpstr>Overview</vt:lpstr>
      <vt:lpstr>Introduction/Background:</vt:lpstr>
      <vt:lpstr>Motivation:</vt:lpstr>
      <vt:lpstr>Problem Statement:</vt:lpstr>
      <vt:lpstr>Scope of Project:</vt:lpstr>
      <vt:lpstr>Project Objectives:</vt:lpstr>
      <vt:lpstr>Literature Review:</vt:lpstr>
      <vt:lpstr>Methodology/Framework:</vt:lpstr>
      <vt:lpstr>Methodology/Framework</vt:lpstr>
      <vt:lpstr>Tools and Languages</vt:lpstr>
      <vt:lpstr>Gantt Chart</vt:lpstr>
      <vt:lpstr>Conclusion</vt:lpstr>
      <vt:lpstr>References</vt:lpstr>
      <vt:lpstr>Division of Role</vt:lpstr>
      <vt:lpstr>Q/A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Sadia Mughal \ Lecturer Computer Science</dc:creator>
  <cp:lastModifiedBy>DENZEN COMPUTERS</cp:lastModifiedBy>
  <cp:revision>40</cp:revision>
  <dcterms:created xsi:type="dcterms:W3CDTF">2021-11-26T06:10:53Z</dcterms:created>
  <dcterms:modified xsi:type="dcterms:W3CDTF">2024-12-14T20:38:28Z</dcterms:modified>
</cp:coreProperties>
</file>